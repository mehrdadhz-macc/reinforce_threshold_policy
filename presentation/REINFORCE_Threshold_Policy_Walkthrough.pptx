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92040"/>
            <a:ext cx="12191695" cy="38100"/>
          </a:xfrm>
          <a:prstGeom prst="rect">
            <a:avLst/>
          </a:prstGeom>
          <a:solidFill>
            <a:srgbClr val="22B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2B29C"/>
                </a:solidFill>
                <a:latin typeface="Calibri"/>
              </a:rPr>
              <a:t>BATTERY STORAGE  •  CONTINUOUS INTRADAY ELECTRICITY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REINFORCE Threshold Policy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375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C9D6E3"/>
                </a:solidFill>
                <a:latin typeface="Calibri"/>
              </a:rPr>
              <a:t>How the model trains and how it is tested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74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9FB1C4"/>
                </a:solidFill>
                <a:latin typeface="Calibri"/>
              </a:rPr>
              <a:t>Replication of Bertrand &amp; Papavasiliou (2020), IEEE Trans. Power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093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E92A8"/>
                </a:solidFill>
                <a:latin typeface="Calibri"/>
              </a:rPr>
              <a:t>Prepared for supervisor walkthrough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2B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B29C"/>
                </a:solidFill>
                <a:latin typeface="Calibr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223B"/>
                </a:solidFill>
                <a:latin typeface="Calibr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1005840" cy="40640"/>
          </a:xfrm>
          <a:prstGeom prst="rect">
            <a:avLst/>
          </a:prstGeom>
          <a:solidFill>
            <a:srgbClr val="E8A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7C"/>
                </a:solidFill>
                <a:latin typeface="Calibri"/>
              </a:rPr>
              <a:t>REINFORCE Threshold Policy  |  Bertrand &amp; Papavasiliou (2020) Replication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B7C"/>
                </a:solidFill>
                <a:latin typeface="Calibr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2B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52704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E223B"/>
                </a:solidFill>
                <a:latin typeface="Calibri"/>
              </a:rPr>
              <a:t>Problem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883664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B7C"/>
                </a:solidFill>
                <a:latin typeface="Calibri"/>
              </a:rPr>
              <a:t>Storage unit, intraday market, one trading day = one episode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3317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2B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30428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E223B"/>
                </a:solidFill>
                <a:latin typeface="Calibri"/>
              </a:rPr>
              <a:t>Market &amp; environment mechanics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660904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B7C"/>
                </a:solidFill>
                <a:latin typeface="Calibri"/>
              </a:rPr>
              <a:t>State, actions, reward, state-of-charge constraints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089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2B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08152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E223B"/>
                </a:solidFill>
                <a:latin typeface="Calibri"/>
              </a:rPr>
              <a:t>The threshold policy (5 steps)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438144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B7C"/>
                </a:solidFill>
                <a:latin typeface="Calibri"/>
              </a:rPr>
              <a:t>How buy/sell price thresholds are computed each tick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86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2B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85876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E223B"/>
                </a:solidFill>
                <a:latin typeface="Calibri"/>
              </a:rPr>
              <a:t>Stochastic action selection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215384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B7C"/>
                </a:solidFill>
                <a:latin typeface="Calibri"/>
              </a:rPr>
              <a:t>Sampling discrete trade sizes from Gaussian thresholds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6634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2B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63600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E223B"/>
                </a:solidFill>
                <a:latin typeface="Calibri"/>
              </a:rPr>
              <a:t>REINFORCE training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992624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B7C"/>
                </a:solidFill>
                <a:latin typeface="Calibri"/>
              </a:rPr>
              <a:t>Objective, gradient update, training loop, curriculum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440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2B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541324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E223B"/>
                </a:solidFill>
                <a:latin typeface="Calibri"/>
              </a:rPr>
              <a:t>Testing / evaluation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5769864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B7C"/>
                </a:solidFill>
                <a:latin typeface="Calibri"/>
              </a:rPr>
              <a:t>Greedy policy, metrics, diagnostic plots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2B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B29C"/>
                </a:solidFill>
                <a:latin typeface="Calibri"/>
              </a:rPr>
              <a:t>1 · PROBLEM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223B"/>
                </a:solidFill>
                <a:latin typeface="Calibri"/>
              </a:rPr>
              <a:t>A battery trading a full day, tick by tick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1005840" cy="40640"/>
          </a:xfrm>
          <a:prstGeom prst="rect">
            <a:avLst/>
          </a:prstGeom>
          <a:solidFill>
            <a:srgbClr val="E8A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7C"/>
                </a:solidFill>
                <a:latin typeface="Calibri"/>
              </a:rPr>
              <a:t>REINFORCE Threshold Policy  |  Bertrand &amp; Papavasiliou (2020) Replication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B7C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5577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22B29C"/>
                </a:solidFill>
                <a:latin typeface="Calibri"/>
              </a:rPr>
              <a:t>• </a:t>
            </a:r>
            <a:r>
              <a:rPr sz="1600" b="1">
                <a:solidFill>
                  <a:srgbClr val="0E223B"/>
                </a:solidFill>
                <a:latin typeface="Calibri"/>
              </a:rPr>
              <a:t>Episode:  </a:t>
            </a:r>
            <a:r>
              <a:rPr sz="1600">
                <a:solidFill>
                  <a:srgbClr val="212B36"/>
                </a:solidFill>
                <a:latin typeface="Calibri"/>
              </a:rPr>
              <a:t>One episode = one Berlin calendar day (24 delivery hours), traded jointly.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22B29C"/>
                </a:solidFill>
                <a:latin typeface="Calibri"/>
              </a:rPr>
              <a:t>• </a:t>
            </a:r>
            <a:r>
              <a:rPr sz="1600" b="1">
                <a:solidFill>
                  <a:srgbClr val="0E223B"/>
                </a:solidFill>
                <a:latin typeface="Calibri"/>
              </a:rPr>
              <a:t>Step:  </a:t>
            </a:r>
            <a:r>
              <a:rPr sz="1600">
                <a:solidFill>
                  <a:srgbClr val="212B36"/>
                </a:solidFill>
                <a:latin typeface="Calibri"/>
              </a:rPr>
              <a:t>One step = one order-book tick (1 minute in our synthetic data).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22B29C"/>
                </a:solidFill>
                <a:latin typeface="Calibri"/>
              </a:rPr>
              <a:t>• </a:t>
            </a:r>
            <a:r>
              <a:rPr sz="1600" b="1">
                <a:solidFill>
                  <a:srgbClr val="0E223B"/>
                </a:solidFill>
                <a:latin typeface="Calibri"/>
              </a:rPr>
              <a:t>Per tick:  </a:t>
            </a:r>
            <a:r>
              <a:rPr sz="1600">
                <a:solidFill>
                  <a:srgbClr val="212B36"/>
                </a:solidFill>
                <a:latin typeface="Calibri"/>
              </a:rPr>
              <a:t>At every tick the agent looks at ALL still-open delivery hours at once and picks an independent buy/sell/idle action for each.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22B29C"/>
                </a:solidFill>
                <a:latin typeface="Calibri"/>
              </a:rPr>
              <a:t>• </a:t>
            </a:r>
            <a:r>
              <a:rPr sz="1600" b="1">
                <a:solidFill>
                  <a:srgbClr val="0E223B"/>
                </a:solidFill>
                <a:latin typeface="Calibri"/>
              </a:rPr>
              <a:t>Asset:  </a:t>
            </a:r>
            <a:r>
              <a:rPr sz="1600">
                <a:solidFill>
                  <a:srgbClr val="212B36"/>
                </a:solidFill>
                <a:latin typeface="Calibri"/>
              </a:rPr>
              <a:t>200 MWh capacity, 50 MW max charge/discharge, 95% round-trip efficiency.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22B29C"/>
                </a:solidFill>
                <a:latin typeface="Calibri"/>
              </a:rPr>
              <a:t>• </a:t>
            </a:r>
            <a:r>
              <a:rPr sz="1600" b="1">
                <a:solidFill>
                  <a:srgbClr val="0E223B"/>
                </a:solidFill>
                <a:latin typeface="Calibri"/>
              </a:rPr>
              <a:t>Data:  </a:t>
            </a:r>
            <a:r>
              <a:rPr sz="1600">
                <a:solidFill>
                  <a:srgbClr val="212B36"/>
                </a:solidFill>
                <a:latin typeface="Calibri"/>
              </a:rPr>
              <a:t>D-1 day-ahead auction curve (24 hourly prices) + continuous intraday order book (bids/asks) per delivery hour.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00200"/>
            <a:ext cx="5257800" cy="237744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46304" bIns="146304"/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5B6B7C"/>
                </a:solidFill>
                <a:latin typeface="Consolas"/>
              </a:rPr>
              <a:t>STATE VARIABLE — IMPLIED STATE OF CHARGE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0E223B"/>
                </a:solidFill>
                <a:latin typeface="Consolas"/>
              </a:rPr>
              <a:t>position[h]      net MWh committed, hour h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0E223B"/>
                </a:solidFill>
                <a:latin typeface="Consolas"/>
              </a:rPr>
              <a:t>implied_soc[h] = initial_soc − cumsum(position)[h]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0E223B"/>
                </a:solidFill>
                <a:latin typeface="Consolas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0E223B"/>
                </a:solidFill>
                <a:latin typeface="Consolas"/>
              </a:rPr>
              <a:t>constraint:  0 ≤ implied_soc[h] ≤ capacity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206240"/>
            <a:ext cx="5257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B6B7C"/>
                </a:solidFill>
                <a:latin typeface="Calibri"/>
              </a:rPr>
              <a:t>The battery never physically holds energy until delivery — “implied SoC” tracks what the accumulated trades commit it to, and every trade is checked against this trajectory so the unit can never over- or under-commit.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2B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B29C"/>
                </a:solidFill>
                <a:latin typeface="Calibri"/>
              </a:rPr>
              <a:t>2 ·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223B"/>
                </a:solidFill>
                <a:latin typeface="Calibri"/>
              </a:rPr>
              <a:t>MDP formulation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1005840" cy="40640"/>
          </a:xfrm>
          <a:prstGeom prst="rect">
            <a:avLst/>
          </a:prstGeom>
          <a:solidFill>
            <a:srgbClr val="E8A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7C"/>
                </a:solidFill>
                <a:latin typeface="Calibri"/>
              </a:rPr>
              <a:t>REINFORCE Threshold Policy  |  Bertrand &amp; Papavasiliou (2020) Replication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B7C"/>
                </a:solidFill>
                <a:latin typeface="Calibri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3611880" cy="4572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54480"/>
            <a:ext cx="3611880" cy="502920"/>
          </a:xfrm>
          <a:prstGeom prst="rect">
            <a:avLst/>
          </a:prstGeom>
          <a:solidFill>
            <a:srgbClr val="16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554480"/>
            <a:ext cx="3611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STATE  s_t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212848"/>
            <a:ext cx="3246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00" b="1">
                <a:solidFill>
                  <a:srgbClr val="22B29C"/>
                </a:solidFill>
                <a:latin typeface="Calibri"/>
              </a:rPr>
              <a:t>• </a:t>
            </a:r>
            <a:r>
              <a:rPr sz="1300">
                <a:solidFill>
                  <a:srgbClr val="212B36"/>
                </a:solidFill>
                <a:latin typeface="Calibri"/>
              </a:rPr>
              <a:t>Active delivery hours still open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00" b="1">
                <a:solidFill>
                  <a:srgbClr val="22B29C"/>
                </a:solidFill>
                <a:latin typeface="Calibri"/>
              </a:rPr>
              <a:t>• </a:t>
            </a:r>
            <a:r>
              <a:rPr sz="1300">
                <a:solidFill>
                  <a:srgbClr val="212B36"/>
                </a:solidFill>
                <a:latin typeface="Calibri"/>
              </a:rPr>
              <a:t>Best bid / ask + full order-book depth per hour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00" b="1">
                <a:solidFill>
                  <a:srgbClr val="22B29C"/>
                </a:solidFill>
                <a:latin typeface="Calibri"/>
              </a:rPr>
              <a:t>• </a:t>
            </a:r>
            <a:r>
              <a:rPr sz="1300">
                <a:solidFill>
                  <a:srgbClr val="212B36"/>
                </a:solidFill>
                <a:latin typeface="Calibri"/>
              </a:rPr>
              <a:t>Position / implied SoC trajectory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00" b="1">
                <a:solidFill>
                  <a:srgbClr val="22B29C"/>
                </a:solidFill>
                <a:latin typeface="Calibri"/>
              </a:rPr>
              <a:t>• </a:t>
            </a:r>
            <a:r>
              <a:rPr sz="1300">
                <a:solidFill>
                  <a:srgbClr val="212B36"/>
                </a:solidFill>
                <a:latin typeface="Calibri"/>
              </a:rPr>
              <a:t>Elapsed hours since session start (15:00 D−1)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00" b="1">
                <a:solidFill>
                  <a:srgbClr val="22B29C"/>
                </a:solidFill>
                <a:latin typeface="Calibri"/>
              </a:rPr>
              <a:t>• </a:t>
            </a:r>
            <a:r>
              <a:rPr sz="1300">
                <a:solidFill>
                  <a:srgbClr val="212B36"/>
                </a:solidFill>
                <a:latin typeface="Calibri"/>
              </a:rPr>
              <a:t>v_end_fraction = implied_soc[23] / capacity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554480"/>
            <a:ext cx="3611880" cy="4572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554480"/>
            <a:ext cx="3611880" cy="502920"/>
          </a:xfrm>
          <a:prstGeom prst="rect">
            <a:avLst/>
          </a:prstGeom>
          <a:solidFill>
            <a:srgbClr val="16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1554480"/>
            <a:ext cx="3611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ACTION  a_t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212848"/>
            <a:ext cx="3246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00" b="1">
                <a:solidFill>
                  <a:srgbClr val="22B29C"/>
                </a:solidFill>
                <a:latin typeface="Calibri"/>
              </a:rPr>
              <a:t>• </a:t>
            </a:r>
            <a:r>
              <a:rPr sz="1300">
                <a:solidFill>
                  <a:srgbClr val="212B36"/>
                </a:solidFill>
                <a:latin typeface="Calibri"/>
              </a:rPr>
              <a:t>One signed quantity per active hour h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00" b="1">
                <a:solidFill>
                  <a:srgbClr val="22B29C"/>
                </a:solidFill>
                <a:latin typeface="Calibri"/>
              </a:rPr>
              <a:t>• </a:t>
            </a:r>
            <a:r>
              <a:rPr sz="1300">
                <a:solidFill>
                  <a:srgbClr val="212B36"/>
                </a:solidFill>
                <a:latin typeface="Calibri"/>
              </a:rPr>
              <a:t>a[h] &gt; 0  → sell/discharge  a[h] MWh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00" b="1">
                <a:solidFill>
                  <a:srgbClr val="22B29C"/>
                </a:solidFill>
                <a:latin typeface="Calibri"/>
              </a:rPr>
              <a:t>• </a:t>
            </a:r>
            <a:r>
              <a:rPr sz="1300">
                <a:solidFill>
                  <a:srgbClr val="212B36"/>
                </a:solidFill>
                <a:latin typeface="Calibri"/>
              </a:rPr>
              <a:t>a[h] &lt; 0  → buy/charge  |a[h]| MWh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00" b="1">
                <a:solidFill>
                  <a:srgbClr val="22B29C"/>
                </a:solidFill>
                <a:latin typeface="Calibri"/>
              </a:rPr>
              <a:t>• </a:t>
            </a:r>
            <a:r>
              <a:rPr sz="1300">
                <a:solidFill>
                  <a:srgbClr val="212B36"/>
                </a:solidFill>
                <a:latin typeface="Calibri"/>
              </a:rPr>
              <a:t>a[h] = 0  → idle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00" b="1">
                <a:solidFill>
                  <a:srgbClr val="22B29C"/>
                </a:solidFill>
                <a:latin typeface="Calibri"/>
              </a:rPr>
              <a:t>• </a:t>
            </a:r>
            <a:r>
              <a:rPr sz="1300">
                <a:solidFill>
                  <a:srgbClr val="212B36"/>
                </a:solidFill>
                <a:latin typeface="Calibri"/>
              </a:rPr>
              <a:t>Sampled jointly across all open hours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1554480"/>
            <a:ext cx="3611880" cy="4572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80" y="1554480"/>
            <a:ext cx="3611880" cy="502920"/>
          </a:xfrm>
          <a:prstGeom prst="rect">
            <a:avLst/>
          </a:prstGeom>
          <a:solidFill>
            <a:srgbClr val="16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1554480"/>
            <a:ext cx="3611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REWARD  r_t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2212848"/>
            <a:ext cx="3246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00" b="1">
                <a:solidFill>
                  <a:srgbClr val="22B29C"/>
                </a:solidFill>
                <a:latin typeface="Calibri"/>
              </a:rPr>
              <a:t>• </a:t>
            </a:r>
            <a:r>
              <a:rPr sz="1300">
                <a:solidFill>
                  <a:srgbClr val="212B36"/>
                </a:solidFill>
                <a:latin typeface="Calibri"/>
              </a:rPr>
              <a:t>Sell q:  revenue = ∫₀^q p_bid(z) dz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00" b="1">
                <a:solidFill>
                  <a:srgbClr val="22B29C"/>
                </a:solidFill>
                <a:latin typeface="Calibri"/>
              </a:rPr>
              <a:t>• </a:t>
            </a:r>
            <a:r>
              <a:rPr sz="1300">
                <a:solidFill>
                  <a:srgbClr val="212B36"/>
                </a:solidFill>
                <a:latin typeface="Calibri"/>
              </a:rPr>
              <a:t>Buy q:  cost = ∫₀^q p_ask(z) dz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00" b="1">
                <a:solidFill>
                  <a:srgbClr val="22B29C"/>
                </a:solidFill>
                <a:latin typeface="Calibri"/>
              </a:rPr>
              <a:t>• </a:t>
            </a:r>
            <a:r>
              <a:rPr sz="1300">
                <a:solidFill>
                  <a:srgbClr val="212B36"/>
                </a:solidFill>
                <a:latin typeface="Calibri"/>
              </a:rPr>
              <a:t>Idle: r = 0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00" b="1">
                <a:solidFill>
                  <a:srgbClr val="22B29C"/>
                </a:solidFill>
                <a:latin typeface="Calibri"/>
              </a:rPr>
              <a:t>• </a:t>
            </a:r>
            <a:r>
              <a:rPr sz="1300">
                <a:solidFill>
                  <a:srgbClr val="212B36"/>
                </a:solidFill>
                <a:latin typeface="Calibri"/>
              </a:rPr>
              <a:t>Terminal: −penalty × max(0, implied_soc[23])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00" b="1">
                <a:solidFill>
                  <a:srgbClr val="22B29C"/>
                </a:solidFill>
                <a:latin typeface="Calibri"/>
              </a:rPr>
              <a:t>• </a:t>
            </a:r>
            <a:r>
              <a:rPr sz="1300">
                <a:solidFill>
                  <a:srgbClr val="212B36"/>
                </a:solidFill>
                <a:latin typeface="Calibri"/>
              </a:rPr>
              <a:t>No discounting — full-day undiscounted return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2B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B29C"/>
                </a:solidFill>
                <a:latin typeface="Calibri"/>
              </a:rPr>
              <a:t>3 · THRESHOLD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223B"/>
                </a:solidFill>
                <a:latin typeface="Calibri"/>
              </a:rPr>
              <a:t>Five steps compute two prices per hour: μ_X (buy) and μ_Y (sell)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1005840" cy="40640"/>
          </a:xfrm>
          <a:prstGeom prst="rect">
            <a:avLst/>
          </a:prstGeom>
          <a:solidFill>
            <a:srgbClr val="E8A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7C"/>
                </a:solidFill>
                <a:latin typeface="Calibri"/>
              </a:rPr>
              <a:t>REINFORCE Threshold Policy  |  Bertrand &amp; Papavasiliou (2020) Replication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B7C"/>
                </a:solidFill>
                <a:latin typeface="Calibri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E8A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2000" b="1">
                <a:solidFill>
                  <a:srgbClr val="0E223B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5819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E223B"/>
                </a:solidFill>
                <a:latin typeface="Calibri"/>
              </a:rPr>
              <a:t>Auction anchor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965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B6B7C"/>
                </a:solidFill>
                <a:latin typeface="Calibri"/>
              </a:rPr>
              <a:t>Centre thresholds inside the D−1 auction price range for that hour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0956" y="2103120"/>
            <a:ext cx="25400" cy="365760"/>
          </a:xfrm>
          <a:prstGeom prst="rect">
            <a:avLst/>
          </a:prstGeom>
          <a:solidFill>
            <a:srgbClr val="DD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246888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E8A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2000" b="1">
                <a:solidFill>
                  <a:srgbClr val="0E223B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4505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E223B"/>
                </a:solidFill>
                <a:latin typeface="Calibri"/>
              </a:rPr>
              <a:t>SoC pressure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834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B6B7C"/>
                </a:solidFill>
                <a:latin typeface="Calibri"/>
              </a:rPr>
              <a:t>Shift thresholds by how full/empty the battery is projected to end the day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0956" y="2971800"/>
            <a:ext cx="25400" cy="365760"/>
          </a:xfrm>
          <a:prstGeom prst="rect">
            <a:avLst/>
          </a:prstGeom>
          <a:solidFill>
            <a:srgbClr val="DD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333756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E8A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2000" b="1">
                <a:solidFill>
                  <a:srgbClr val="0E223B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3192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E223B"/>
                </a:solidFill>
                <a:latin typeface="Calibri"/>
              </a:rPr>
              <a:t>Urgency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703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B6B7C"/>
                </a:solidFill>
                <a:latin typeface="Calibri"/>
              </a:rPr>
              <a:t>Exponentially push thresholds toward the market as delivery time approaches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0956" y="3840480"/>
            <a:ext cx="25400" cy="365760"/>
          </a:xfrm>
          <a:prstGeom prst="rect">
            <a:avLst/>
          </a:prstGeom>
          <a:solidFill>
            <a:srgbClr val="DD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420624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E8A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2000" b="1">
                <a:solidFill>
                  <a:srgbClr val="0E223B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1879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E223B"/>
                </a:solidFill>
                <a:latin typeface="Calibri"/>
              </a:rPr>
              <a:t>Rolling-intrinsic reference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B6B7C"/>
                </a:solidFill>
                <a:latin typeface="Calibri"/>
              </a:rPr>
              <a:t>Reallocate probability toward the rolling-intrinsic optimal trade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0956" y="4709160"/>
            <a:ext cx="25400" cy="365760"/>
          </a:xfrm>
          <a:prstGeom prst="rect">
            <a:avLst/>
          </a:prstGeom>
          <a:solidFill>
            <a:srgbClr val="DD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8640" y="507492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E8A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2000" b="1">
                <a:solidFill>
                  <a:srgbClr val="0E223B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5056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E223B"/>
                </a:solidFill>
                <a:latin typeface="Calibri"/>
              </a:rPr>
              <a:t>Efficiency adjustment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440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B6B7C"/>
                </a:solidFill>
                <a:latin typeface="Calibri"/>
              </a:rPr>
              <a:t>Split thresholds into a financial and a physical view using round-trip efficiency 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5B6B7C"/>
                </a:solidFill>
                <a:latin typeface="Calibri"/>
              </a:rPr>
              <a:t>Result: a mean μ_X and μ_Y for a Gaussian threshold distribution over each active delivery hour, every tick.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2B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B29C"/>
                </a:solidFill>
                <a:latin typeface="Calibri"/>
              </a:rPr>
              <a:t>3 ·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223B"/>
                </a:solidFill>
                <a:latin typeface="Calibri"/>
              </a:rPr>
              <a:t>Auction anchor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1005840" cy="40640"/>
          </a:xfrm>
          <a:prstGeom prst="rect">
            <a:avLst/>
          </a:prstGeom>
          <a:solidFill>
            <a:srgbClr val="E8A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7C"/>
                </a:solidFill>
                <a:latin typeface="Calibri"/>
              </a:rPr>
              <a:t>REINFORCE Threshold Policy  |  Bertrand &amp; Papavasiliou (2020) Replication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B7C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22B29C"/>
                </a:solidFill>
                <a:latin typeface="Calibri"/>
              </a:rPr>
              <a:t>• </a:t>
            </a:r>
            <a:r>
              <a:rPr sz="1700" b="1">
                <a:solidFill>
                  <a:srgbClr val="0E223B"/>
                </a:solidFill>
                <a:latin typeface="Calibri"/>
              </a:rPr>
              <a:t>Regimes:  </a:t>
            </a:r>
            <a:r>
              <a:rPr sz="1700">
                <a:solidFill>
                  <a:srgbClr val="212B36"/>
                </a:solidFill>
                <a:latin typeface="Calibri"/>
              </a:rPr>
              <a:t>Each hour belongs to a buy regime (segment between local maxima of the D−1 curve) with minimum price p_min, and a sell regime (segment between local minima) with maximum price p_max.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22B29C"/>
                </a:solidFill>
                <a:latin typeface="Calibri"/>
              </a:rPr>
              <a:t>• </a:t>
            </a:r>
            <a:r>
              <a:rPr sz="1700" b="1">
                <a:solidFill>
                  <a:srgbClr val="0E223B"/>
                </a:solidFill>
                <a:latin typeface="Calibri"/>
              </a:rPr>
              <a:t>Intuition:  </a:t>
            </a:r>
            <a:r>
              <a:rPr sz="1700">
                <a:solidFill>
                  <a:srgbClr val="212B36"/>
                </a:solidFill>
                <a:latin typeface="Calibri"/>
              </a:rPr>
              <a:t>α₁ places the threshold as a fraction of the way across that hour's price range.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3063240"/>
            <a:ext cx="9418320" cy="173736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46304" bIns="146304"/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0E223B"/>
                </a:solidFill>
                <a:latin typeface="Consolas"/>
              </a:rPr>
              <a:t>μ_X  =  p_min[h]  +  α₁ˢ · (p_max[h] − p_min[h])          (buy threshold)</a:t>
            </a:r>
          </a:p>
          <a:p>
            <a:pPr algn="l">
              <a:spcAft>
                <a:spcPts val="400"/>
              </a:spcAft>
            </a:pPr>
            <a:r>
              <a:rPr sz="1900" b="0">
                <a:solidFill>
                  <a:srgbClr val="0E223B"/>
                </a:solidFill>
                <a:latin typeface="Consolas"/>
              </a:rPr>
              <a:t>μ_Y  =  p_max[h]  −  α₁ᵇ · (p_max[h] − p_min[h])          (sell threshold)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0749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5B6B7C"/>
                </a:solidFill>
                <a:latin typeface="Calibri"/>
              </a:rPr>
              <a:t>α₁ˢ, α₁ᵇ ∈ [0, 1] are learned. At α₁=0.5 both thresholds sit at the regime midpoint; smaller α₁ˢ makes buying cheaper/more conservative, larger α₁ᵇ makes selling more conservative.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2B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B29C"/>
                </a:solidFill>
                <a:latin typeface="Calibri"/>
              </a:rPr>
              <a:t>3 · 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223B"/>
                </a:solidFill>
                <a:latin typeface="Calibri"/>
              </a:rPr>
              <a:t>Position / SoC-pressure adjustment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1005840" cy="40640"/>
          </a:xfrm>
          <a:prstGeom prst="rect">
            <a:avLst/>
          </a:prstGeom>
          <a:solidFill>
            <a:srgbClr val="E8A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7C"/>
                </a:solidFill>
                <a:latin typeface="Calibri"/>
              </a:rPr>
              <a:t>REINFORCE Threshold Policy  |  Bertrand &amp; Papavasiliou (2020) Replication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B7C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22B29C"/>
                </a:solidFill>
                <a:latin typeface="Calibri"/>
              </a:rPr>
              <a:t>• </a:t>
            </a:r>
            <a:r>
              <a:rPr sz="1700" b="1">
                <a:solidFill>
                  <a:srgbClr val="0E223B"/>
                </a:solidFill>
                <a:latin typeface="Calibri"/>
              </a:rPr>
              <a:t>Signal:  </a:t>
            </a:r>
            <a:r>
              <a:rPr sz="1700">
                <a:solidFill>
                  <a:srgbClr val="212B36"/>
                </a:solidFill>
                <a:latin typeface="Calibri"/>
              </a:rPr>
              <a:t>v_end_fraction = implied end-of-day SoC ÷ capacity — how full the battery is projected to finish.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22B29C"/>
                </a:solidFill>
                <a:latin typeface="Calibri"/>
              </a:rPr>
              <a:t>• </a:t>
            </a:r>
            <a:r>
              <a:rPr sz="1700" b="1">
                <a:solidFill>
                  <a:srgbClr val="0E223B"/>
                </a:solidFill>
                <a:latin typeface="Calibri"/>
              </a:rPr>
              <a:t>Effect:  </a:t>
            </a:r>
            <a:r>
              <a:rPr sz="1700">
                <a:solidFill>
                  <a:srgbClr val="212B36"/>
                </a:solidFill>
                <a:latin typeface="Calibri"/>
              </a:rPr>
              <a:t>If the battery is on track to finish full, both thresholds are pulled down — buying gets less attractive, selling gets more attractive — pushing the policy to offload energy before day-end.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3063240"/>
            <a:ext cx="9418320" cy="173736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46304" bIns="146304"/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0E223B"/>
                </a:solidFill>
                <a:latin typeface="Consolas"/>
              </a:rPr>
              <a:t>μ_X  ←  μ_X  −  α₂ˢ · v_end_fraction</a:t>
            </a:r>
          </a:p>
          <a:p>
            <a:pPr algn="l">
              <a:spcAft>
                <a:spcPts val="400"/>
              </a:spcAft>
            </a:pPr>
            <a:r>
              <a:rPr sz="1900" b="0">
                <a:solidFill>
                  <a:srgbClr val="0E223B"/>
                </a:solidFill>
                <a:latin typeface="Consolas"/>
              </a:rPr>
              <a:t>μ_Y  ←  μ_Y  −  α₂ᵇ · v_end_fraction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0749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5B6B7C"/>
                </a:solidFill>
                <a:latin typeface="Calibri"/>
              </a:rPr>
              <a:t>α₂ˢ, α₂ᵇ are learned EUR/MWh-per-unit-fill sensitivities — how strongly projected SoC at day-end should move the thresholds.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2B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B29C"/>
                </a:solidFill>
                <a:latin typeface="Calibri"/>
              </a:rPr>
              <a:t>3 · STEP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223B"/>
                </a:solidFill>
                <a:latin typeface="Calibri"/>
              </a:rPr>
              <a:t>Urgency as delivery approaches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1005840" cy="40640"/>
          </a:xfrm>
          <a:prstGeom prst="rect">
            <a:avLst/>
          </a:prstGeom>
          <a:solidFill>
            <a:srgbClr val="E8A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7C"/>
                </a:solidFill>
                <a:latin typeface="Calibri"/>
              </a:rPr>
              <a:t>REINFORCE Threshold Policy  |  Bertrand &amp; Papavasiliou (2020) Replication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B7C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22B29C"/>
                </a:solidFill>
                <a:latin typeface="Calibri"/>
              </a:rPr>
              <a:t>• </a:t>
            </a:r>
            <a:r>
              <a:rPr sz="1700" b="1">
                <a:solidFill>
                  <a:srgbClr val="0E223B"/>
                </a:solidFill>
                <a:latin typeface="Calibri"/>
              </a:rPr>
              <a:t>Reference times:  </a:t>
            </a:r>
            <a:r>
              <a:rPr sz="1700">
                <a:solidFill>
                  <a:srgbClr val="212B36"/>
                </a:solidFill>
                <a:latin typeface="Calibri"/>
              </a:rPr>
              <a:t>T_s[h], T_b[h] = the delivery times of the regime extremes (buy-regime minimum, sell-regime maximum).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22B29C"/>
                </a:solidFill>
                <a:latin typeface="Calibri"/>
              </a:rPr>
              <a:t>• </a:t>
            </a:r>
            <a:r>
              <a:rPr sz="1700" b="1">
                <a:solidFill>
                  <a:srgbClr val="0E223B"/>
                </a:solidFill>
                <a:latin typeface="Calibri"/>
              </a:rPr>
              <a:t>Effect:  </a:t>
            </a:r>
            <a:r>
              <a:rPr sz="1700">
                <a:solidFill>
                  <a:srgbClr val="212B36"/>
                </a:solidFill>
                <a:latin typeface="Calibri"/>
              </a:rPr>
              <a:t>As trading time t approaches delivery, the exponential term grows and pushes both thresholds toward the market — the policy becomes more willing to trade rather than risk running out of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3017520"/>
            <a:ext cx="10149840" cy="192024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46304" bIns="146304"/>
          <a:lstStyle/>
          <a:p>
            <a:pPr algn="l">
              <a:spcAft>
                <a:spcPts val="400"/>
              </a:spcAft>
            </a:pPr>
            <a:r>
              <a:rPr sz="1750" b="0">
                <a:solidFill>
                  <a:srgbClr val="0E223B"/>
                </a:solidFill>
                <a:latin typeface="Consolas"/>
              </a:rPr>
              <a:t>μ_X  ←  μ_X  +  α₃ˢ · (range/2) · exp( α₄ˢ · (t − T_s[h]) )</a:t>
            </a:r>
          </a:p>
          <a:p>
            <a:pPr algn="l">
              <a:spcAft>
                <a:spcPts val="400"/>
              </a:spcAft>
            </a:pPr>
            <a:r>
              <a:rPr sz="1750" b="0">
                <a:solidFill>
                  <a:srgbClr val="0E223B"/>
                </a:solidFill>
                <a:latin typeface="Consolas"/>
              </a:rPr>
              <a:t>μ_Y  ←  μ_Y  −  α₃ᵇ · (range/2) · exp( α₄ᵇ · (t − T_b[h]) )</a:t>
            </a:r>
          </a:p>
          <a:p>
            <a:pPr algn="l">
              <a:spcAft>
                <a:spcPts val="400"/>
              </a:spcAft>
            </a:pPr>
            <a:r>
              <a:rPr sz="1750" b="0">
                <a:solidFill>
                  <a:srgbClr val="0E223B"/>
                </a:solidFill>
                <a:latin typeface="Consolas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750" b="0">
                <a:solidFill>
                  <a:srgbClr val="0E223B"/>
                </a:solidFill>
                <a:latin typeface="Consolas"/>
              </a:rPr>
              <a:t>exponent clamped ≤ 5   (numerical overflow guard)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166360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5B6B7C"/>
                </a:solidFill>
                <a:latin typeface="Calibri"/>
              </a:rPr>
              <a:t>α₃ controls the size of the urgency push (magnitude), α₄ controls how fast it ramps up (rate).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2B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B29C"/>
                </a:solidFill>
                <a:latin typeface="Calibri"/>
              </a:rPr>
              <a:t>3 · STEP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223B"/>
                </a:solidFill>
                <a:latin typeface="Calibri"/>
              </a:rPr>
              <a:t>Rolling-intrinsic (RI) reference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1005840" cy="40640"/>
          </a:xfrm>
          <a:prstGeom prst="rect">
            <a:avLst/>
          </a:prstGeom>
          <a:solidFill>
            <a:srgbClr val="E8A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7C"/>
                </a:solidFill>
                <a:latin typeface="Calibri"/>
              </a:rPr>
              <a:t>REINFORCE Threshold Policy  |  Bertrand &amp; Papavasiliou (2020) Replication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B7C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0881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22B29C"/>
                </a:solidFill>
                <a:latin typeface="Calibri"/>
              </a:rPr>
              <a:t>• </a:t>
            </a:r>
            <a:r>
              <a:rPr sz="1700" b="1">
                <a:solidFill>
                  <a:srgbClr val="0E223B"/>
                </a:solidFill>
                <a:latin typeface="Calibri"/>
              </a:rPr>
              <a:t>What RI is:  </a:t>
            </a:r>
            <a:r>
              <a:rPr sz="1700">
                <a:solidFill>
                  <a:srgbClr val="212B36"/>
                </a:solidFill>
                <a:latin typeface="Calibri"/>
              </a:rPr>
              <a:t>A rolling-intrinsic LP solves, at every tick, the trade that is optimal if no future price information is used — a classical no-regret benchmark strategy.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22B29C"/>
                </a:solidFill>
                <a:latin typeface="Calibri"/>
              </a:rPr>
              <a:t>• </a:t>
            </a:r>
            <a:r>
              <a:rPr sz="1700" b="1">
                <a:solidFill>
                  <a:srgbClr val="0E223B"/>
                </a:solidFill>
                <a:latin typeface="Calibri"/>
              </a:rPr>
              <a:t>Mechanism:  </a:t>
            </a:r>
            <a:r>
              <a:rPr sz="1700">
                <a:solidFill>
                  <a:srgbClr val="212B36"/>
                </a:solidFill>
                <a:latin typeface="Calibri"/>
              </a:rPr>
              <a:t>This step is NOT a shift of μ_X / μ_Y. It reallocates probability mass in the action distribution: mass on levels beyond what RI would accept is moved to the RI boundary level.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22B29C"/>
                </a:solidFill>
                <a:latin typeface="Calibri"/>
              </a:rPr>
              <a:t>• </a:t>
            </a:r>
            <a:r>
              <a:rPr sz="1700" b="1">
                <a:solidFill>
                  <a:srgbClr val="0E223B"/>
                </a:solidFill>
                <a:latin typeface="Calibri"/>
              </a:rPr>
              <a:t>Why:  </a:t>
            </a:r>
            <a:r>
              <a:rPr sz="1700">
                <a:solidFill>
                  <a:srgbClr val="212B36"/>
                </a:solidFill>
                <a:latin typeface="Calibri"/>
              </a:rPr>
              <a:t>Nudges the stochastic policy toward the rolling-intrinsic recommendation without hard-coding it — the policy can still learn to deviate.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4023360"/>
            <a:ext cx="9784080" cy="13716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46304" bIns="146304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5B6B7C"/>
                </a:solidFill>
                <a:latin typeface="Consolas"/>
              </a:rPr>
              <a:t>PROBABILITY REALLOCATION RULE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0E223B"/>
                </a:solidFill>
                <a:latin typeface="Consolas"/>
              </a:rPr>
              <a:t>levels ≤ ri_level   →  use the main (financial) distribution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0E223B"/>
                </a:solidFill>
                <a:latin typeface="Consolas"/>
              </a:rPr>
              <a:t>levels  &gt; ri_level   →  use the auxiliary (physical) distribution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5623560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5B6B7C"/>
                </a:solidFill>
                <a:latin typeface="Calibri"/>
              </a:rPr>
              <a:t>(RI solved via a per-tick LP over full order-book depth — Appendix E of the paper.)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2B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B29C"/>
                </a:solidFill>
                <a:latin typeface="Calibri"/>
              </a:rPr>
              <a:t>3 · STEP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223B"/>
                </a:solidFill>
                <a:latin typeface="Calibri"/>
              </a:rPr>
              <a:t>Efficiency adjustment — financial vs. physical 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1005840" cy="40640"/>
          </a:xfrm>
          <a:prstGeom prst="rect">
            <a:avLst/>
          </a:prstGeom>
          <a:solidFill>
            <a:srgbClr val="E8A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7C"/>
                </a:solidFill>
                <a:latin typeface="Calibri"/>
              </a:rPr>
              <a:t>REINFORCE Threshold Policy  |  Bertrand &amp; Papavasiliou (2020) Replication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B7C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22B29C"/>
                </a:solidFill>
                <a:latin typeface="Calibri"/>
              </a:rPr>
              <a:t>• </a:t>
            </a:r>
            <a:r>
              <a:rPr sz="1700">
                <a:solidFill>
                  <a:srgbClr val="212B36"/>
                </a:solidFill>
                <a:latin typeface="Calibri"/>
              </a:rPr>
              <a:t>η = one-way efficiency = √(round-trip efficiency).  No new learned parameters here.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514600"/>
            <a:ext cx="10881360" cy="233172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46304" bIns="146304"/>
          <a:lstStyle/>
          <a:p>
            <a:pPr algn="l">
              <a:spcAft>
                <a:spcPts val="400"/>
              </a:spcAft>
            </a:pPr>
            <a:r>
              <a:rPr sz="1650" b="0">
                <a:solidFill>
                  <a:srgbClr val="0E223B"/>
                </a:solidFill>
                <a:latin typeface="Consolas"/>
              </a:rPr>
              <a:t>Main / financial (used up to the RI boundary):</a:t>
            </a:r>
          </a:p>
          <a:p>
            <a:pPr algn="l">
              <a:spcAft>
                <a:spcPts val="400"/>
              </a:spcAft>
            </a:pPr>
            <a:r>
              <a:rPr sz="1650" b="0">
                <a:solidFill>
                  <a:srgbClr val="0E223B"/>
                </a:solidFill>
                <a:latin typeface="Consolas"/>
              </a:rPr>
              <a:t>   sell:  N(η·μ_Y, σ_Y)              buy:  N(μ_X/η, σ_X)</a:t>
            </a:r>
          </a:p>
          <a:p>
            <a:pPr algn="l">
              <a:spcAft>
                <a:spcPts val="400"/>
              </a:spcAft>
            </a:pPr>
            <a:r>
              <a:rPr sz="1650" b="0">
                <a:solidFill>
                  <a:srgbClr val="0E223B"/>
                </a:solidFill>
                <a:latin typeface="Consolas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650" b="0">
                <a:solidFill>
                  <a:srgbClr val="0E223B"/>
                </a:solidFill>
                <a:latin typeface="Consolas"/>
              </a:rPr>
              <a:t>Auxiliary / physical (used beyond the RI boundary, plus α₅ shift):</a:t>
            </a:r>
          </a:p>
          <a:p>
            <a:pPr algn="l">
              <a:spcAft>
                <a:spcPts val="400"/>
              </a:spcAft>
            </a:pPr>
            <a:r>
              <a:rPr sz="1650" b="0">
                <a:solidFill>
                  <a:srgbClr val="0E223B"/>
                </a:solidFill>
                <a:latin typeface="Consolas"/>
              </a:rPr>
              <a:t>   sell:  N(μ_Y/η² + α₅ᵇ, σ_Y)      buy:  N(η²·μ_X − α₅ˢ, σ_X)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7492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5B6B7C"/>
                </a:solidFill>
                <a:latin typeface="Calibri"/>
              </a:rPr>
              <a:t>When efficiency = 1 (η = 1), financial and physical collapse to the same distribution — this reduces cleanly to the no-efficiency case. α₅ˢ / α₅ᵇ give the policy an extra learned correction specifically on the physical/auxiliary side.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2B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B29C"/>
                </a:solidFill>
                <a:latin typeface="Calibri"/>
              </a:rPr>
              <a:t>3 · GUARDRAIL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223B"/>
                </a:solidFill>
                <a:latin typeface="Calibri"/>
              </a:rPr>
              <a:t>Feasibility reweighting — imbalance prevention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1005840" cy="40640"/>
          </a:xfrm>
          <a:prstGeom prst="rect">
            <a:avLst/>
          </a:prstGeom>
          <a:solidFill>
            <a:srgbClr val="E8A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7C"/>
                </a:solidFill>
                <a:latin typeface="Calibri"/>
              </a:rPr>
              <a:t>REINFORCE Threshold Policy  |  Bertrand &amp; Papavasiliou (2020) Replication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B7C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22B29C"/>
                </a:solidFill>
                <a:latin typeface="Calibri"/>
              </a:rPr>
              <a:t>• </a:t>
            </a:r>
            <a:r>
              <a:rPr sz="1700" b="1">
                <a:solidFill>
                  <a:srgbClr val="0E223B"/>
                </a:solidFill>
                <a:latin typeface="Calibri"/>
              </a:rPr>
              <a:t>Feasibility check:  </a:t>
            </a:r>
            <a:r>
              <a:rPr sz="1700">
                <a:solidFill>
                  <a:srgbClr val="212B36"/>
                </a:solidFill>
                <a:latin typeface="Calibri"/>
              </a:rPr>
              <a:t>For every hour, look ahead along the projected SoC path to find the max sell / buy quantity that keeps 0 ≤ SoC ≤ capacity at all future ticks.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22B29C"/>
                </a:solidFill>
                <a:latin typeface="Calibri"/>
              </a:rPr>
              <a:t>• </a:t>
            </a:r>
            <a:r>
              <a:rPr sz="1700" b="1">
                <a:solidFill>
                  <a:srgbClr val="0E223B"/>
                </a:solidFill>
                <a:latin typeface="Calibri"/>
              </a:rPr>
              <a:t>Reallocation:  </a:t>
            </a:r>
            <a:r>
              <a:rPr sz="1700">
                <a:solidFill>
                  <a:srgbClr val="212B36"/>
                </a:solidFill>
                <a:latin typeface="Calibri"/>
              </a:rPr>
              <a:t>Probability mass on infeasible levels is moved to the highest feasible level — not discarded — so gradients still flow correctly through REINFORCE.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22B29C"/>
                </a:solidFill>
                <a:latin typeface="Calibri"/>
              </a:rPr>
              <a:t>• </a:t>
            </a:r>
            <a:r>
              <a:rPr sz="1700" b="1">
                <a:solidFill>
                  <a:srgbClr val="0E223B"/>
                </a:solidFill>
                <a:latin typeface="Calibri"/>
              </a:rPr>
              <a:t>Guarantee:  </a:t>
            </a:r>
            <a:r>
              <a:rPr sz="1700">
                <a:solidFill>
                  <a:srgbClr val="212B36"/>
                </a:solidFill>
                <a:latin typeface="Calibri"/>
              </a:rPr>
              <a:t>The battery can never be asked to charge past capacity or discharge below empty.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4160520"/>
            <a:ext cx="9601200" cy="146304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46304" bIns="146304"/>
          <a:lstStyle/>
          <a:p>
            <a:pPr algn="ctr">
              <a:spcAft>
                <a:spcPts val="600"/>
              </a:spcAft>
            </a:pPr>
            <a:r>
              <a:rPr sz="1150" b="1">
                <a:solidFill>
                  <a:srgbClr val="5B6B7C"/>
                </a:solidFill>
                <a:latin typeface="Consolas"/>
              </a:rPr>
              <a:t>MASS CONSERVED, DIFFERENTIABLE</a:t>
            </a:r>
          </a:p>
          <a:p>
            <a:pPr algn="l">
              <a:spcAft>
                <a:spcPts val="400"/>
              </a:spcAft>
            </a:pPr>
            <a:r>
              <a:rPr sz="1650" b="0">
                <a:solidFill>
                  <a:srgbClr val="0E223B"/>
                </a:solidFill>
                <a:latin typeface="Consolas"/>
              </a:rPr>
              <a:t>boundary level  =  P(highest feasible level)  +  Σ P(infeasible levels)</a:t>
            </a:r>
          </a:p>
          <a:p>
            <a:pPr algn="l">
              <a:spcAft>
                <a:spcPts val="400"/>
              </a:spcAft>
            </a:pPr>
            <a:r>
              <a:rPr sz="1650" b="0">
                <a:solidFill>
                  <a:srgbClr val="0E223B"/>
                </a:solidFill>
                <a:latin typeface="Consolas"/>
              </a:rPr>
              <a:t>infeasible levels  →  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2B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B29C"/>
                </a:solidFill>
                <a:latin typeface="Calibri"/>
              </a:rPr>
              <a:t>4 · ACTION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223B"/>
                </a:solidFill>
                <a:latin typeface="Calibri"/>
              </a:rPr>
              <a:t>Stochastic threshold sampling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1005840" cy="40640"/>
          </a:xfrm>
          <a:prstGeom prst="rect">
            <a:avLst/>
          </a:prstGeom>
          <a:solidFill>
            <a:srgbClr val="E8A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7C"/>
                </a:solidFill>
                <a:latin typeface="Calibri"/>
              </a:rPr>
              <a:t>REINFORCE Threshold Policy  |  Bertrand &amp; Papavasiliou (2020) Replication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B7C"/>
                </a:solidFill>
                <a:latin typeface="Calibr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1600200"/>
            <a:ext cx="8321040" cy="13716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46304" bIns="146304"/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0E223B"/>
                </a:solidFill>
                <a:latin typeface="Consolas"/>
              </a:rPr>
              <a:t>X  ~  N(μ_X, exp(σ_X)²)      buy threshold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0E223B"/>
                </a:solidFill>
                <a:latin typeface="Consolas"/>
              </a:rPr>
              <a:t>Y  ~  N(μ_Y, exp(σ_Y)²)      sell threshold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46120"/>
            <a:ext cx="10881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22B29C"/>
                </a:solidFill>
                <a:latin typeface="Calibri"/>
              </a:rPr>
              <a:t>• </a:t>
            </a:r>
            <a:r>
              <a:rPr sz="1700" b="1">
                <a:solidFill>
                  <a:srgbClr val="0E223B"/>
                </a:solidFill>
                <a:latin typeface="Calibri"/>
              </a:rPr>
              <a:t>Level choice:  </a:t>
            </a:r>
            <a:r>
              <a:rPr sz="1700">
                <a:solidFill>
                  <a:srgbClr val="212B36"/>
                </a:solidFill>
                <a:latin typeface="Calibri"/>
              </a:rPr>
              <a:t>Compare Y against bid-curve midpoint prices (best bid downward) to pick a sell level; compare X against ask-curve midpoints to pick a buy level.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22B29C"/>
                </a:solidFill>
                <a:latin typeface="Calibri"/>
              </a:rPr>
              <a:t>• </a:t>
            </a:r>
            <a:r>
              <a:rPr sz="1700" b="1">
                <a:solidFill>
                  <a:srgbClr val="0E223B"/>
                </a:solidFill>
                <a:latin typeface="Calibri"/>
              </a:rPr>
              <a:t>Sell priority:  </a:t>
            </a:r>
            <a:r>
              <a:rPr sz="1700">
                <a:solidFill>
                  <a:srgbClr val="212B36"/>
                </a:solidFill>
                <a:latin typeface="Calibri"/>
              </a:rPr>
              <a:t>If a sell level is chosen, no buy is placed the same tick — mirrors the paper's single-sided execution per tick.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22B29C"/>
                </a:solidFill>
                <a:latin typeface="Calibri"/>
              </a:rPr>
              <a:t>• </a:t>
            </a:r>
            <a:r>
              <a:rPr sz="1700" b="1">
                <a:solidFill>
                  <a:srgbClr val="0E223B"/>
                </a:solidFill>
                <a:latin typeface="Calibri"/>
              </a:rPr>
              <a:t>Learned spread:  </a:t>
            </a:r>
            <a:r>
              <a:rPr sz="1700">
                <a:solidFill>
                  <a:srgbClr val="212B36"/>
                </a:solidFill>
                <a:latin typeface="Calibri"/>
              </a:rPr>
              <a:t>log σ_X, log σ_Y are themselves learned parameters — the policy learns how much randomness to inject, not just where to centre 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2B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B29C"/>
                </a:solidFill>
                <a:latin typeface="Calibri"/>
              </a:rPr>
              <a:t>4 · ACTION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223B"/>
                </a:solidFill>
                <a:latin typeface="Calibri"/>
              </a:rPr>
              <a:t>From continuous thresholds to discrete action probabilities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1005840" cy="40640"/>
          </a:xfrm>
          <a:prstGeom prst="rect">
            <a:avLst/>
          </a:prstGeom>
          <a:solidFill>
            <a:srgbClr val="E8A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7C"/>
                </a:solidFill>
                <a:latin typeface="Calibri"/>
              </a:rPr>
              <a:t>REINFORCE Threshold Policy  |  Bertrand &amp; Papavasiliou (2020) Replication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B7C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B6B7C"/>
                </a:solidFill>
                <a:latin typeface="Calibri"/>
              </a:rPr>
              <a:t>Quantities are discretised into levels, so probabilities use CDF differences, not raw density: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74519"/>
            <a:ext cx="10515600" cy="1874519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46304" bIns="146304"/>
          <a:lstStyle/>
          <a:p>
            <a:pPr algn="l">
              <a:spcAft>
                <a:spcPts val="400"/>
              </a:spcAft>
            </a:pPr>
            <a:r>
              <a:rPr sz="1550" b="0">
                <a:solidFill>
                  <a:srgbClr val="0E223B"/>
                </a:solidFill>
                <a:latin typeface="Consolas"/>
              </a:rPr>
              <a:t>P(sell level k)  =  Φ(p_mid[k−1]; μ_Y,σ_Y)  −  Φ(p_mid[k]; μ_Y,σ_Y)</a:t>
            </a:r>
          </a:p>
          <a:p>
            <a:pPr algn="l">
              <a:spcAft>
                <a:spcPts val="400"/>
              </a:spcAft>
            </a:pPr>
            <a:r>
              <a:rPr sz="1550" b="0">
                <a:solidFill>
                  <a:srgbClr val="0E223B"/>
                </a:solidFill>
                <a:latin typeface="Consolas"/>
              </a:rPr>
              <a:t>P(sell = 0)       =  1 − Φ(p_mid[0]; μ_Y,σ_Y)</a:t>
            </a:r>
          </a:p>
          <a:p>
            <a:pPr algn="l">
              <a:spcAft>
                <a:spcPts val="400"/>
              </a:spcAft>
            </a:pPr>
            <a:r>
              <a:rPr sz="1550" b="0">
                <a:solidFill>
                  <a:srgbClr val="0E223B"/>
                </a:solidFill>
                <a:latin typeface="Consolas"/>
              </a:rPr>
              <a:t>P(buy level k)   =  Φ(p_mid[k]; μ_X,σ_X)  −  Φ(p_mid[k−1]; μ_X,σ_X)</a:t>
            </a:r>
          </a:p>
          <a:p>
            <a:pPr algn="l">
              <a:spcAft>
                <a:spcPts val="400"/>
              </a:spcAft>
            </a:pPr>
            <a:r>
              <a:rPr sz="1550" b="0">
                <a:solidFill>
                  <a:srgbClr val="0E223B"/>
                </a:solidFill>
                <a:latin typeface="Consolas"/>
              </a:rPr>
              <a:t>P(buy = 0)        =  Φ(p_mid[0]; μ_X,σ_X)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977639"/>
            <a:ext cx="10515600" cy="169164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46304" bIns="146304"/>
          <a:lstStyle/>
          <a:p>
            <a:pPr algn="ctr">
              <a:spcAft>
                <a:spcPts val="600"/>
              </a:spcAft>
            </a:pPr>
            <a:r>
              <a:rPr sz="1050" b="1">
                <a:solidFill>
                  <a:srgbClr val="5B6B7C"/>
                </a:solidFill>
                <a:latin typeface="Consolas"/>
              </a:rPr>
              <a:t>COMBINED SELL-PRIORITY ACTION PROBABILITY</a:t>
            </a:r>
          </a:p>
          <a:p>
            <a:pPr algn="l">
              <a:spcAft>
                <a:spcPts val="400"/>
              </a:spcAft>
            </a:pPr>
            <a:r>
              <a:rPr sz="1550" b="0">
                <a:solidFill>
                  <a:srgbClr val="0E223B"/>
                </a:solidFill>
                <a:latin typeface="Consolas"/>
              </a:rPr>
              <a:t>P(action = sell q_k)  =  P(sell level = k)</a:t>
            </a:r>
          </a:p>
          <a:p>
            <a:pPr algn="l">
              <a:spcAft>
                <a:spcPts val="400"/>
              </a:spcAft>
            </a:pPr>
            <a:r>
              <a:rPr sz="1550" b="0">
                <a:solidFill>
                  <a:srgbClr val="0E223B"/>
                </a:solidFill>
                <a:latin typeface="Consolas"/>
              </a:rPr>
              <a:t>P(action = buy q_k)   =  P(sell = 0) × P(buy level = k)</a:t>
            </a:r>
          </a:p>
          <a:p>
            <a:pPr algn="l">
              <a:spcAft>
                <a:spcPts val="400"/>
              </a:spcAft>
            </a:pPr>
            <a:r>
              <a:rPr sz="1550" b="0">
                <a:solidFill>
                  <a:srgbClr val="0E223B"/>
                </a:solidFill>
                <a:latin typeface="Consolas"/>
              </a:rPr>
              <a:t>P(action = idle)         =  P(sell = 0) × P(buy = 0)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2B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B29C"/>
                </a:solidFill>
                <a:latin typeface="Calibri"/>
              </a:rPr>
              <a:t>5 ·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223B"/>
                </a:solidFill>
                <a:latin typeface="Calibri"/>
              </a:rPr>
              <a:t>The REINFORCE update rule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1005840" cy="40640"/>
          </a:xfrm>
          <a:prstGeom prst="rect">
            <a:avLst/>
          </a:prstGeom>
          <a:solidFill>
            <a:srgbClr val="E8A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7C"/>
                </a:solidFill>
                <a:latin typeface="Calibri"/>
              </a:rPr>
              <a:t>REINFORCE Threshold Policy  |  Bertrand &amp; Papavasiliou (2020) Replication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B7C"/>
                </a:solidFill>
                <a:latin typeface="Calibr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22B29C"/>
                </a:solidFill>
                <a:latin typeface="Calibri"/>
              </a:rPr>
              <a:t>• </a:t>
            </a:r>
            <a:r>
              <a:rPr sz="1700" b="1">
                <a:solidFill>
                  <a:srgbClr val="0E223B"/>
                </a:solidFill>
                <a:latin typeface="Calibri"/>
              </a:rPr>
              <a:t>Return:  </a:t>
            </a:r>
            <a:r>
              <a:rPr sz="1700">
                <a:solidFill>
                  <a:srgbClr val="212B36"/>
                </a:solidFill>
                <a:latin typeface="Calibri"/>
              </a:rPr>
              <a:t>g_t = total reward from tick t to end of day. No discounting, no normalisation — exactly as in the paper.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22B29C"/>
                </a:solidFill>
                <a:latin typeface="Calibri"/>
              </a:rPr>
              <a:t>• </a:t>
            </a:r>
            <a:r>
              <a:rPr sz="1700" b="1">
                <a:solidFill>
                  <a:srgbClr val="0E223B"/>
                </a:solidFill>
                <a:latin typeface="Calibri"/>
              </a:rPr>
              <a:t>Log-prob:  </a:t>
            </a:r>
            <a:r>
              <a:rPr sz="1700">
                <a:solidFill>
                  <a:srgbClr val="212B36"/>
                </a:solidFill>
                <a:latin typeface="Calibri"/>
              </a:rPr>
              <a:t>The joint log-probability across all active hours at tick 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788920"/>
            <a:ext cx="10332720" cy="256032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46304" bIns="146304"/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0E223B"/>
                </a:solidFill>
                <a:latin typeface="Consolas"/>
              </a:rPr>
              <a:t>log π_α(a_t | s_t)  =  Σ_h  log P(a_{t,h} | s_t)          (sum over active hours)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0E223B"/>
                </a:solidFill>
                <a:latin typeface="Consolas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0E223B"/>
                </a:solidFill>
                <a:latin typeface="Consolas"/>
              </a:rPr>
              <a:t>g_t  =  Σ_{k≥t} r_k                                                (undiscounted return)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0E223B"/>
                </a:solidFill>
                <a:latin typeface="Consolas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0E223B"/>
                </a:solidFill>
                <a:latin typeface="Consolas"/>
              </a:rPr>
              <a:t>α  ←  α  +  ρ · ∇_α log π_α(a|s) · g_t             (B&amp;P Eq. 2, ρ via Adam)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B6B7C"/>
                </a:solidFill>
                <a:latin typeface="Calibri"/>
              </a:rPr>
              <a:t>Implemented as loss = −Σ_t logπ(a_t|s_t)·g_t, backprop, gradient-norm clip, one Adam step per episode.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2B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B29C"/>
                </a:solidFill>
                <a:latin typeface="Calibri"/>
              </a:rPr>
              <a:t>5 ·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223B"/>
                </a:solidFill>
                <a:latin typeface="Calibri"/>
              </a:rPr>
              <a:t>One training episode, step by step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1005840" cy="40640"/>
          </a:xfrm>
          <a:prstGeom prst="rect">
            <a:avLst/>
          </a:prstGeom>
          <a:solidFill>
            <a:srgbClr val="E8A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7C"/>
                </a:solidFill>
                <a:latin typeface="Calibri"/>
              </a:rPr>
              <a:t>REINFORCE Threshold Policy  |  Bertrand &amp; Papavasiliou (2020) Replication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B7C"/>
                </a:solidFill>
                <a:latin typeface="Calibr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22B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49047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E223B"/>
                </a:solidFill>
                <a:latin typeface="Calibri"/>
              </a:rPr>
              <a:t>Take the day's D−1 auction curve → compute buy/sell regimes (p_min, p_max, T_s, T_b per hour).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7568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22B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0574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E223B"/>
                </a:solidFill>
                <a:latin typeface="Calibri"/>
              </a:rPr>
              <a:t>Reset the environment to tick 0 of the day; SoC = initial_soc.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4261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22B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6243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E223B"/>
                </a:solidFill>
                <a:latin typeface="Calibri"/>
              </a:rPr>
              <a:t>For every tick until the day ends: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209544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B6B7C"/>
                </a:solidFill>
                <a:latin typeface="Calibri"/>
              </a:rPr>
              <a:t>sample actions for all active hours (Steps 1–5 → μ_X, μ_Y → sample X, Y → discrete levels)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77647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B6B7C"/>
                </a:solidFill>
                <a:latin typeface="Calibri"/>
              </a:rPr>
              <a:t>apply actions in the environment → reward (order-book integral)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3434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B6B7C"/>
                </a:solidFill>
                <a:latin typeface="Calibri"/>
              </a:rPr>
              <a:t>store (log_prob, reward) for this tick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91032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22B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892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E223B"/>
                </a:solidFill>
                <a:latin typeface="Calibri"/>
              </a:rPr>
              <a:t>At day-end: compute undiscounted returns g_t, form the REINFORCE loss, backpropagate, clip gradient norm, take one Adam step.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47725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22B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45896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E223B"/>
                </a:solidFill>
                <a:latin typeface="Calibri"/>
              </a:rPr>
              <a:t>Move to the next training day (episode) and repeat.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2B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B29C"/>
                </a:solidFill>
                <a:latin typeface="Calibri"/>
              </a:rPr>
              <a:t>5 ·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223B"/>
                </a:solidFill>
                <a:latin typeface="Calibri"/>
              </a:rPr>
              <a:t>Curriculum · repetitions · parallel workers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1005840" cy="40640"/>
          </a:xfrm>
          <a:prstGeom prst="rect">
            <a:avLst/>
          </a:prstGeom>
          <a:solidFill>
            <a:srgbClr val="E8A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7C"/>
                </a:solidFill>
                <a:latin typeface="Calibri"/>
              </a:rPr>
              <a:t>REINFORCE Threshold Policy  |  Bertrand &amp; Papavasiliou (2020) Replication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B7C"/>
                </a:solidFill>
                <a:latin typeface="Calibr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08760"/>
            <a:ext cx="5257800" cy="42062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2B29C"/>
                </a:solidFill>
                <a:latin typeface="Calibri"/>
              </a:rPr>
              <a:t>FREQUENCY CURRICULUM (§VI-A)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4709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350" b="1">
                <a:solidFill>
                  <a:srgbClr val="22B29C"/>
                </a:solidFill>
                <a:latin typeface="Calibri"/>
              </a:rPr>
              <a:t>• </a:t>
            </a:r>
            <a:r>
              <a:rPr sz="1350">
                <a:solidFill>
                  <a:srgbClr val="212B36"/>
                </a:solidFill>
                <a:latin typeface="Calibri"/>
              </a:rPr>
              <a:t>Default run: single phase at the finest tick resolution.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350" b="1">
                <a:solidFill>
                  <a:srgbClr val="22B29C"/>
                </a:solidFill>
                <a:latin typeface="Calibri"/>
              </a:rPr>
              <a:t>• </a:t>
            </a:r>
            <a:r>
              <a:rPr sz="1350">
                <a:solidFill>
                  <a:srgbClr val="212B36"/>
                </a:solidFill>
                <a:latin typeface="Calibri"/>
              </a:rPr>
              <a:t>--curriculum: three phases at increasing frequency — hourly → 15-min → 5-min ticks.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350" b="1">
                <a:solidFill>
                  <a:srgbClr val="22B29C"/>
                </a:solidFill>
                <a:latin typeface="Calibri"/>
              </a:rPr>
              <a:t>• </a:t>
            </a:r>
            <a:r>
              <a:rPr sz="1350">
                <a:solidFill>
                  <a:srgbClr val="212B36"/>
                </a:solidFill>
                <a:latin typeface="Calibri"/>
              </a:rPr>
              <a:t>Each phase repeats over the training days (--reps), or trains until the rolling mean reward plateaus (--reps inf).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508760"/>
            <a:ext cx="5257800" cy="42062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691640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2B29C"/>
                </a:solidFill>
                <a:latin typeface="Calibri"/>
              </a:rPr>
              <a:t>PARALLEL EPISODE COLLECTION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194560"/>
            <a:ext cx="4709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350" b="1">
                <a:solidFill>
                  <a:srgbClr val="22B29C"/>
                </a:solidFill>
                <a:latin typeface="Calibri"/>
              </a:rPr>
              <a:t>• </a:t>
            </a:r>
            <a:r>
              <a:rPr sz="1350">
                <a:solidFill>
                  <a:srgbClr val="212B36"/>
                </a:solidFill>
                <a:latin typeface="Calibri"/>
              </a:rPr>
              <a:t>--workers N forks N worker processes; each runs one full day and computes gradients (no optimizer step).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350" b="1">
                <a:solidFill>
                  <a:srgbClr val="22B29C"/>
                </a:solidFill>
                <a:latin typeface="Calibri"/>
              </a:rPr>
              <a:t>• </a:t>
            </a:r>
            <a:r>
              <a:rPr sz="1350">
                <a:solidFill>
                  <a:srgbClr val="212B36"/>
                </a:solidFill>
                <a:latin typeface="Calibri"/>
              </a:rPr>
              <a:t>Gradients from all workers are averaged, then one Adam step is applied — equivalent to mini-batch REINFORCE.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350" b="1">
                <a:solidFill>
                  <a:srgbClr val="22B29C"/>
                </a:solidFill>
                <a:latin typeface="Calibri"/>
              </a:rPr>
              <a:t>• </a:t>
            </a:r>
            <a:r>
              <a:rPr sz="1350">
                <a:solidFill>
                  <a:srgbClr val="212B36"/>
                </a:solidFill>
                <a:latin typeface="Calibri"/>
              </a:rPr>
              <a:t>Lower-variance updates than one-episode-at-a-time training.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897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5B6B7C"/>
                </a:solidFill>
                <a:latin typeface="Calibri"/>
              </a:rPr>
              <a:t>200 training days × 4 repetitions is the paper's default (§VI-A); each day's episode is independent.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2B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B29C"/>
                </a:solidFill>
                <a:latin typeface="Calibri"/>
              </a:rPr>
              <a:t>5 ·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223B"/>
                </a:solidFill>
                <a:latin typeface="Calibri"/>
              </a:rPr>
              <a:t>The 11 learned parameters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1005840" cy="40640"/>
          </a:xfrm>
          <a:prstGeom prst="rect">
            <a:avLst/>
          </a:prstGeom>
          <a:solidFill>
            <a:srgbClr val="E8A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7C"/>
                </a:solidFill>
                <a:latin typeface="Calibri"/>
              </a:rPr>
              <a:t>REINFORCE Threshold Policy  |  Bertrand &amp; Papavasiliou (2020) Replication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B7C"/>
                </a:solidFill>
                <a:latin typeface="Calibri"/>
              </a:rPr>
              <a:t>17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554480"/>
          <a:ext cx="111556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572000"/>
                <a:gridCol w="2651760"/>
                <a:gridCol w="2103120"/>
              </a:tblGrid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633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1633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Sampled range (--seed)</a:t>
                      </a:r>
                    </a:p>
                  </a:txBody>
                  <a:tcPr>
                    <a:solidFill>
                      <a:srgbClr val="1633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Fixed default</a:t>
                      </a:r>
                    </a:p>
                  </a:txBody>
                  <a:tcPr>
                    <a:solidFill>
                      <a:srgbClr val="163355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E223B"/>
                          </a:solidFill>
                          <a:latin typeface="Consolas"/>
                        </a:rPr>
                        <a:t>α₁ˢ / α₁ᵇ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12B36"/>
                          </a:solidFill>
                          <a:latin typeface="Calibri"/>
                        </a:rPr>
                        <a:t>Auction-anchor fraction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12B36"/>
                          </a:solidFill>
                          <a:latin typeface="Calibri"/>
                        </a:rPr>
                        <a:t>[0, 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12B36"/>
                          </a:solidFill>
                          <a:latin typeface="Calibri"/>
                        </a:rPr>
                        <a:t>0.5 / 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E223B"/>
                          </a:solidFill>
                          <a:latin typeface="Consolas"/>
                        </a:rPr>
                        <a:t>α₂ˢ / α₂ᵇ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12B36"/>
                          </a:solidFill>
                          <a:latin typeface="Calibri"/>
                        </a:rPr>
                        <a:t>SoC-pressure sensitivity (EUR/MWh)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12B36"/>
                          </a:solidFill>
                          <a:latin typeface="Calibri"/>
                        </a:rPr>
                        <a:t>[0, 5]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12B36"/>
                          </a:solidFill>
                          <a:latin typeface="Calibri"/>
                        </a:rPr>
                        <a:t>0 / 0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E223B"/>
                          </a:solidFill>
                          <a:latin typeface="Consolas"/>
                        </a:rPr>
                        <a:t>α₃ˢ / α₃ᵇ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12B36"/>
                          </a:solidFill>
                          <a:latin typeface="Calibri"/>
                        </a:rPr>
                        <a:t>Urgency magnitude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12B36"/>
                          </a:solidFill>
                          <a:latin typeface="Calibri"/>
                        </a:rPr>
                        <a:t>[0, 2]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12B36"/>
                          </a:solidFill>
                          <a:latin typeface="Calibri"/>
                        </a:rPr>
                        <a:t>0 /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E223B"/>
                          </a:solidFill>
                          <a:latin typeface="Consolas"/>
                        </a:rPr>
                        <a:t>α₄ˢ / α₄ᵇ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12B36"/>
                          </a:solidFill>
                          <a:latin typeface="Calibri"/>
                        </a:rPr>
                        <a:t>Urgency rate (exp. coefficient)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12B36"/>
                          </a:solidFill>
                          <a:latin typeface="Calibri"/>
                        </a:rPr>
                        <a:t>[0, 2]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12B36"/>
                          </a:solidFill>
                          <a:latin typeface="Calibri"/>
                        </a:rPr>
                        <a:t>1 / 1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E223B"/>
                          </a:solidFill>
                          <a:latin typeface="Consolas"/>
                        </a:rPr>
                        <a:t>α₅ˢ / α₅ᵇ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12B36"/>
                          </a:solidFill>
                          <a:latin typeface="Calibri"/>
                        </a:rPr>
                        <a:t>RI auxiliary shift (EUR/MWh)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12B36"/>
                          </a:solidFill>
                          <a:latin typeface="Calibri"/>
                        </a:rPr>
                        <a:t>[0, 5]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12B36"/>
                          </a:solidFill>
                          <a:latin typeface="Calibri"/>
                        </a:rPr>
                        <a:t>0 /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E223B"/>
                          </a:solidFill>
                          <a:latin typeface="Consolas"/>
                        </a:rPr>
                        <a:t>log σ_X, log σ_Y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12B36"/>
                          </a:solidFill>
                          <a:latin typeface="Calibri"/>
                        </a:rPr>
                        <a:t>Threshold spread (log-scale)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12B36"/>
                          </a:solidFill>
                          <a:latin typeface="Calibri"/>
                        </a:rPr>
                        <a:t>logσ ∈ [−0.5, 2.5]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12B36"/>
                          </a:solidFill>
                          <a:latin typeface="Calibri"/>
                        </a:rPr>
                        <a:t>1.6 / 1.6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9436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5B6B7C"/>
                </a:solidFill>
                <a:latin typeface="Calibri"/>
              </a:rPr>
              <a:t>With --seed, all 11 are drawn uniformly from these ranges; without it, the fixed defaults above are used.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2B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B29C"/>
                </a:solidFill>
                <a:latin typeface="Calibri"/>
              </a:rPr>
              <a:t>6 ·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223B"/>
                </a:solidFill>
                <a:latin typeface="Calibri"/>
              </a:rPr>
              <a:t>Greedy evaluation on held-out days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1005840" cy="40640"/>
          </a:xfrm>
          <a:prstGeom prst="rect">
            <a:avLst/>
          </a:prstGeom>
          <a:solidFill>
            <a:srgbClr val="E8A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7C"/>
                </a:solidFill>
                <a:latin typeface="Calibri"/>
              </a:rPr>
              <a:t>REINFORCE Threshold Policy  |  Bertrand &amp; Papavasiliou (2020) Replication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B7C"/>
                </a:solidFill>
                <a:latin typeface="Calibr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0881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22B29C"/>
                </a:solidFill>
                <a:latin typeface="Calibri"/>
              </a:rPr>
              <a:t>• </a:t>
            </a:r>
            <a:r>
              <a:rPr sz="1700" b="1">
                <a:solidFill>
                  <a:srgbClr val="0E223B"/>
                </a:solidFill>
                <a:latin typeface="Calibri"/>
              </a:rPr>
              <a:t>Held-out split:  </a:t>
            </a:r>
            <a:r>
              <a:rPr sz="1700">
                <a:solidFill>
                  <a:srgbClr val="212B36"/>
                </a:solidFill>
                <a:latin typeface="Calibri"/>
              </a:rPr>
              <a:t>Test data: August 2023 (seed 123) — disjoint from the Jan–Jun 2023 training period (seed 42).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22B29C"/>
                </a:solidFill>
                <a:latin typeface="Calibri"/>
              </a:rPr>
              <a:t>• </a:t>
            </a:r>
            <a:r>
              <a:rPr sz="1700" b="1">
                <a:solidFill>
                  <a:srgbClr val="0E223B"/>
                </a:solidFill>
                <a:latin typeface="Calibri"/>
              </a:rPr>
              <a:t>Greedy policy:  </a:t>
            </a:r>
            <a:r>
              <a:rPr sz="1700">
                <a:solidFill>
                  <a:srgbClr val="212B36"/>
                </a:solidFill>
                <a:latin typeface="Calibri"/>
              </a:rPr>
              <a:t>No sampling. Compute the same μ_X / μ_Y, feasibility-adjusted probability vectors as training, then take the argmax (mode) level instead of drawing a random sample.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22B29C"/>
                </a:solidFill>
                <a:latin typeface="Calibri"/>
              </a:rPr>
              <a:t>• </a:t>
            </a:r>
            <a:r>
              <a:rPr sz="1700" b="1">
                <a:solidFill>
                  <a:srgbClr val="0E223B"/>
                </a:solidFill>
                <a:latin typeface="Calibri"/>
              </a:rPr>
              <a:t>No learning:  </a:t>
            </a:r>
            <a:r>
              <a:rPr sz="1700">
                <a:solidFill>
                  <a:srgbClr val="212B36"/>
                </a:solidFill>
                <a:latin typeface="Calibri"/>
              </a:rPr>
              <a:t>No gradient, no optimizer step — test.py / evaluate.py run policy.eval() / torch.no_grad().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22B29C"/>
                </a:solidFill>
                <a:latin typeface="Calibri"/>
              </a:rPr>
              <a:t>• </a:t>
            </a:r>
            <a:r>
              <a:rPr sz="1700" b="1">
                <a:solidFill>
                  <a:srgbClr val="0E223B"/>
                </a:solidFill>
                <a:latin typeface="Calibri"/>
              </a:rPr>
              <a:t>Speed option:  </a:t>
            </a:r>
            <a:r>
              <a:rPr sz="1700">
                <a:solidFill>
                  <a:srgbClr val="212B36"/>
                </a:solidFill>
                <a:latin typeface="Calibri"/>
              </a:rPr>
              <a:t>fast=True skips the per-tick rolling-intrinsic LP and uses the cheaper auction-mid reference instead (10–100× faster, same μ_X/μ_Y).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572000"/>
            <a:ext cx="10332720" cy="105156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46304" bIns="146304"/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5B6B7C"/>
                </a:solidFill>
                <a:latin typeface="Consolas"/>
              </a:rPr>
              <a:t>GREEDY ACTION SELECTION (test.py / evaluate.py)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0E223B"/>
                </a:solidFill>
                <a:latin typeface="Consolas"/>
              </a:rPr>
              <a:t>sell_level = argmax(p_sell)        buy_level = argmax(p_buy)  if sell_level == 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2B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B29C"/>
                </a:solidFill>
                <a:latin typeface="Calibri"/>
              </a:rPr>
              <a:t>6 ·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223B"/>
                </a:solidFill>
                <a:latin typeface="Calibri"/>
              </a:rPr>
              <a:t>Metrics and diagnostic plots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1005840" cy="40640"/>
          </a:xfrm>
          <a:prstGeom prst="rect">
            <a:avLst/>
          </a:prstGeom>
          <a:solidFill>
            <a:srgbClr val="E8A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7C"/>
                </a:solidFill>
                <a:latin typeface="Calibri"/>
              </a:rPr>
              <a:t>REINFORCE Threshold Policy  |  Bertrand &amp; Papavasiliou (2020) Replication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B7C"/>
                </a:solidFill>
                <a:latin typeface="Calibr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2B29C"/>
                </a:solidFill>
                <a:latin typeface="Calibri"/>
              </a:rPr>
              <a:t>test.py — quick 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5394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>
                <a:solidFill>
                  <a:srgbClr val="22B29C"/>
                </a:solidFill>
                <a:latin typeface="Calibri"/>
              </a:rPr>
              <a:t>• </a:t>
            </a:r>
            <a:r>
              <a:rPr sz="1400">
                <a:solidFill>
                  <a:srgbClr val="212B36"/>
                </a:solidFill>
                <a:latin typeface="Calibri"/>
              </a:rPr>
              <a:t>Per-day reward printed for every test day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>
                <a:solidFill>
                  <a:srgbClr val="22B29C"/>
                </a:solidFill>
                <a:latin typeface="Calibri"/>
              </a:rPr>
              <a:t>• </a:t>
            </a:r>
            <a:r>
              <a:rPr sz="1400">
                <a:solidFill>
                  <a:srgbClr val="212B36"/>
                </a:solidFill>
                <a:latin typeface="Calibri"/>
              </a:rPr>
              <a:t>Mean, std, min, max, and total reward across all test days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>
                <a:solidFill>
                  <a:srgbClr val="22B29C"/>
                </a:solidFill>
                <a:latin typeface="Calibri"/>
              </a:rPr>
              <a:t>• </a:t>
            </a:r>
            <a:r>
              <a:rPr sz="1400">
                <a:solidFill>
                  <a:srgbClr val="212B36"/>
                </a:solidFill>
                <a:latin typeface="Calibri"/>
              </a:rPr>
              <a:t>Summary saved to test_summary.txt next to the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4173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2B29C"/>
                </a:solidFill>
                <a:latin typeface="Calibri"/>
              </a:rPr>
              <a:t>evaluate.py — six diagnostic figures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22B29C"/>
                </a:solidFill>
                <a:latin typeface="Calibri"/>
              </a:rPr>
              <a:t>• </a:t>
            </a:r>
            <a:r>
              <a:rPr sz="1350">
                <a:solidFill>
                  <a:srgbClr val="212B36"/>
                </a:solidFill>
                <a:latin typeface="Calibri"/>
              </a:rPr>
              <a:t>Performance distribution — policy vs. rolling-intrinsic LP reward histogram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22B29C"/>
                </a:solidFill>
                <a:latin typeface="Calibri"/>
              </a:rPr>
              <a:t>• </a:t>
            </a:r>
            <a:r>
              <a:rPr sz="1350">
                <a:solidFill>
                  <a:srgbClr val="212B36"/>
                </a:solidFill>
                <a:latin typeface="Calibri"/>
              </a:rPr>
              <a:t>Daily reward time series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22B29C"/>
                </a:solidFill>
                <a:latin typeface="Calibri"/>
              </a:rPr>
              <a:t>• </a:t>
            </a:r>
            <a:r>
              <a:rPr sz="1350">
                <a:solidFill>
                  <a:srgbClr val="212B36"/>
                </a:solidFill>
                <a:latin typeface="Calibri"/>
              </a:rPr>
              <a:t>Intraday trading behaviour — price landscape + position build-up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22B29C"/>
                </a:solidFill>
                <a:latin typeface="Calibri"/>
              </a:rPr>
              <a:t>• </a:t>
            </a:r>
            <a:r>
              <a:rPr sz="1350">
                <a:solidFill>
                  <a:srgbClr val="212B36"/>
                </a:solidFill>
                <a:latin typeface="Calibri"/>
              </a:rPr>
              <a:t>State-of-charge trajectory heatmap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22B29C"/>
                </a:solidFill>
                <a:latin typeface="Calibri"/>
              </a:rPr>
              <a:t>• </a:t>
            </a:r>
            <a:r>
              <a:rPr sz="1350">
                <a:solidFill>
                  <a:srgbClr val="212B36"/>
                </a:solidFill>
                <a:latin typeface="Calibri"/>
              </a:rPr>
              <a:t>Threshold vs. market price scatter (μ_Y vs bid, μ_X vs ask)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22B29C"/>
                </a:solidFill>
                <a:latin typeface="Calibri"/>
              </a:rPr>
              <a:t>• </a:t>
            </a:r>
            <a:r>
              <a:rPr sz="1350">
                <a:solidFill>
                  <a:srgbClr val="212B36"/>
                </a:solidFill>
                <a:latin typeface="Calibri"/>
              </a:rPr>
              <a:t>Revenue by delivery hour (0–23)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2B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B29C"/>
                </a:solidFill>
                <a:latin typeface="Calibri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223B"/>
                </a:solidFill>
                <a:latin typeface="Calibri"/>
              </a:rPr>
              <a:t>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1005840" cy="40640"/>
          </a:xfrm>
          <a:prstGeom prst="rect">
            <a:avLst/>
          </a:prstGeom>
          <a:solidFill>
            <a:srgbClr val="E8A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7C"/>
                </a:solidFill>
                <a:latin typeface="Calibri"/>
              </a:rPr>
              <a:t>REINFORCE Threshold Policy  |  Bertrand &amp; Papavasiliou (2020) Replication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B7C"/>
                </a:solidFill>
                <a:latin typeface="Calibr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700" b="1">
                <a:solidFill>
                  <a:srgbClr val="22B29C"/>
                </a:solidFill>
                <a:latin typeface="Calibri"/>
              </a:rPr>
              <a:t>• </a:t>
            </a:r>
            <a:r>
              <a:rPr sz="1700" b="1">
                <a:solidFill>
                  <a:srgbClr val="0E223B"/>
                </a:solidFill>
                <a:latin typeface="Calibri"/>
              </a:rPr>
              <a:t>Policy:  </a:t>
            </a:r>
            <a:r>
              <a:rPr sz="1700">
                <a:solidFill>
                  <a:srgbClr val="212B36"/>
                </a:solidFill>
                <a:latin typeface="Calibri"/>
              </a:rPr>
              <a:t>A 5-step alpha-parameterised policy turns a D−1 auction curve and live order book into two Gaussian price thresholds per delivery hour, every tick.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700" b="1">
                <a:solidFill>
                  <a:srgbClr val="22B29C"/>
                </a:solidFill>
                <a:latin typeface="Calibri"/>
              </a:rPr>
              <a:t>• </a:t>
            </a:r>
            <a:r>
              <a:rPr sz="1700" b="1">
                <a:solidFill>
                  <a:srgbClr val="0E223B"/>
                </a:solidFill>
                <a:latin typeface="Calibri"/>
              </a:rPr>
              <a:t>Action:  </a:t>
            </a:r>
            <a:r>
              <a:rPr sz="1700">
                <a:solidFill>
                  <a:srgbClr val="212B36"/>
                </a:solidFill>
                <a:latin typeface="Calibri"/>
              </a:rPr>
              <a:t>Thresholds are converted into discrete trade-level probabilities (sell-priority), sampled during training, argmax'd during testing.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700" b="1">
                <a:solidFill>
                  <a:srgbClr val="22B29C"/>
                </a:solidFill>
                <a:latin typeface="Calibri"/>
              </a:rPr>
              <a:t>• </a:t>
            </a:r>
            <a:r>
              <a:rPr sz="1700" b="1">
                <a:solidFill>
                  <a:srgbClr val="0E223B"/>
                </a:solidFill>
                <a:latin typeface="Calibri"/>
              </a:rPr>
              <a:t>Learning:  </a:t>
            </a:r>
            <a:r>
              <a:rPr sz="1700">
                <a:solidFill>
                  <a:srgbClr val="212B36"/>
                </a:solidFill>
                <a:latin typeface="Calibri"/>
              </a:rPr>
              <a:t>Undiscounted REINFORCE (−logπ·g_t loss, Adam) updates the 11 alpha/sigma parameters after each full-day episode.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700" b="1">
                <a:solidFill>
                  <a:srgbClr val="22B29C"/>
                </a:solidFill>
                <a:latin typeface="Calibri"/>
              </a:rPr>
              <a:t>• </a:t>
            </a:r>
            <a:r>
              <a:rPr sz="1700" b="1">
                <a:solidFill>
                  <a:srgbClr val="0E223B"/>
                </a:solidFill>
                <a:latin typeface="Calibri"/>
              </a:rPr>
              <a:t>Scale:  </a:t>
            </a:r>
            <a:r>
              <a:rPr sz="1700">
                <a:solidFill>
                  <a:srgbClr val="212B36"/>
                </a:solidFill>
                <a:latin typeface="Calibri"/>
              </a:rPr>
              <a:t>Curriculum (hourly→15-min→5-min) and parallel workers make training tractable over 200 days × 4 reps.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700" b="1">
                <a:solidFill>
                  <a:srgbClr val="22B29C"/>
                </a:solidFill>
                <a:latin typeface="Calibri"/>
              </a:rPr>
              <a:t>• </a:t>
            </a:r>
            <a:r>
              <a:rPr sz="1700" b="1">
                <a:solidFill>
                  <a:srgbClr val="0E223B"/>
                </a:solidFill>
                <a:latin typeface="Calibri"/>
              </a:rPr>
              <a:t>Validation:  </a:t>
            </a:r>
            <a:r>
              <a:rPr sz="1700">
                <a:solidFill>
                  <a:srgbClr val="212B36"/>
                </a:solidFill>
                <a:latin typeface="Calibri"/>
              </a:rPr>
              <a:t>Trained on Jan–Jun 2023, tested greedily on held-out August 2023, benchmarked against a rolling-intrinsic LP.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0350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5B6B7C"/>
                </a:solidFill>
                <a:latin typeface="Calibri"/>
              </a:rPr>
              <a:t>Reference: Bertrand, G., &amp; Papavasiliou, A. (2020). IEEE Trans. Power Systems, 35(3), 2339–2350.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